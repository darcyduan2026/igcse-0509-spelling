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54bf84e4094ae7" /><Relationship Type="http://schemas.openxmlformats.org/officeDocument/2006/relationships/extended-properties" Target="/docProps/app.xml" Id="R38b5dfcae5964af5" /><Relationship Type="http://schemas.openxmlformats.org/officeDocument/2006/relationships/officeDocument" Target="/ppt/presentation.xml" Id="R03c9c129f1184e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ee303448c54dee"/>
  </p:sldMasterIdLst>
  <p:notesMasterIdLst>
    <p:notesMasterId xmlns:r="http://schemas.openxmlformats.org/officeDocument/2006/relationships" r:id="R847964e9a8054fbc"/>
  </p:notesMasterIdLst>
  <p:sldIdLst>
    <p:sldId xmlns:r="http://schemas.openxmlformats.org/officeDocument/2006/relationships" id="256" r:id="Rf4c241690f7444ee"/>
    <p:sldId xmlns:r="http://schemas.openxmlformats.org/officeDocument/2006/relationships" id="257" r:id="Rbc28d8d58efd4c80"/>
    <p:sldId xmlns:r="http://schemas.openxmlformats.org/officeDocument/2006/relationships" id="258" r:id="R5971dad2fab34894"/>
    <p:sldId xmlns:r="http://schemas.openxmlformats.org/officeDocument/2006/relationships" id="259" r:id="R44a4a0251a0b4b79"/>
    <p:sldId xmlns:r="http://schemas.openxmlformats.org/officeDocument/2006/relationships" id="260" r:id="R0b848db769294e56"/>
    <p:sldId xmlns:r="http://schemas.openxmlformats.org/officeDocument/2006/relationships" id="261" r:id="Re7ae9a0c036c4a77"/>
    <p:sldId xmlns:r="http://schemas.openxmlformats.org/officeDocument/2006/relationships" id="262" r:id="Rf6a8d4c4147d4696"/>
    <p:sldId xmlns:r="http://schemas.openxmlformats.org/officeDocument/2006/relationships" id="263" r:id="R705364590f7d4fa6"/>
    <p:sldId xmlns:r="http://schemas.openxmlformats.org/officeDocument/2006/relationships" id="264" r:id="R4342c51e9a7a460c"/>
    <p:sldId xmlns:r="http://schemas.openxmlformats.org/officeDocument/2006/relationships" id="265" r:id="R16eead8e52874f77"/>
    <p:sldId xmlns:r="http://schemas.openxmlformats.org/officeDocument/2006/relationships" id="266" r:id="Rfbf7a8c8c5944354"/>
    <p:sldId xmlns:r="http://schemas.openxmlformats.org/officeDocument/2006/relationships" id="267" r:id="R3fcd622b7a304881"/>
    <p:sldId xmlns:r="http://schemas.openxmlformats.org/officeDocument/2006/relationships" id="268" r:id="R9bb8ba30cca44bff"/>
    <p:sldId xmlns:r="http://schemas.openxmlformats.org/officeDocument/2006/relationships" id="269" r:id="Reb04b7e7f97f41c7"/>
    <p:sldId xmlns:r="http://schemas.openxmlformats.org/officeDocument/2006/relationships" id="270" r:id="Rafac57d72ce9486f"/>
    <p:sldId xmlns:r="http://schemas.openxmlformats.org/officeDocument/2006/relationships" id="271" r:id="R6c70a0d2043c47d8"/>
    <p:sldId xmlns:r="http://schemas.openxmlformats.org/officeDocument/2006/relationships" id="272" r:id="Rf65757de500b4cda"/>
    <p:sldId xmlns:r="http://schemas.openxmlformats.org/officeDocument/2006/relationships" id="273" r:id="R95ae35c301084c2d"/>
    <p:sldId xmlns:r="http://schemas.openxmlformats.org/officeDocument/2006/relationships" id="274" r:id="Rf3a99b395005446a"/>
    <p:sldId xmlns:r="http://schemas.openxmlformats.org/officeDocument/2006/relationships" id="275" r:id="R3c306d77ea374b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e303448c54dee" /><Relationship Type="http://schemas.openxmlformats.org/officeDocument/2006/relationships/theme" Target="/ppt/theme/theme1.xml" Id="R420b9083a53647b9" /><Relationship Type="http://schemas.openxmlformats.org/officeDocument/2006/relationships/notesMaster" Target="/ppt/notesMasters/notesMaster1.xml" Id="R847964e9a8054fbc" /><Relationship Type="http://schemas.openxmlformats.org/officeDocument/2006/relationships/presProps" Target="/ppt/presProps.xml" Id="Ra2666dbd76a14646" /><Relationship Type="http://schemas.openxmlformats.org/officeDocument/2006/relationships/viewProps" Target="/ppt/viewProps.xml" Id="R65470a5af88143b8" /><Relationship Type="http://schemas.openxmlformats.org/officeDocument/2006/relationships/tableStyles" Target="/ppt/tableStyles.xml" Id="R815d3ef13867442e" /><Relationship Type="http://schemas.openxmlformats.org/officeDocument/2006/relationships/slide" Target="/ppt/slides/slide1.xml" Id="Rf4c241690f7444ee" /><Relationship Type="http://schemas.openxmlformats.org/officeDocument/2006/relationships/slide" Target="/ppt/slides/slide2.xml" Id="Rbc28d8d58efd4c80" /><Relationship Type="http://schemas.openxmlformats.org/officeDocument/2006/relationships/slide" Target="/ppt/slides/slide3.xml" Id="R5971dad2fab34894" /><Relationship Type="http://schemas.openxmlformats.org/officeDocument/2006/relationships/slide" Target="/ppt/slides/slide4.xml" Id="R44a4a0251a0b4b79" /><Relationship Type="http://schemas.openxmlformats.org/officeDocument/2006/relationships/slide" Target="/ppt/slides/slide5.xml" Id="R0b848db769294e56" /><Relationship Type="http://schemas.openxmlformats.org/officeDocument/2006/relationships/slide" Target="/ppt/slides/slide6.xml" Id="Re7ae9a0c036c4a77" /><Relationship Type="http://schemas.openxmlformats.org/officeDocument/2006/relationships/slide" Target="/ppt/slides/slide7.xml" Id="Rf6a8d4c4147d4696" /><Relationship Type="http://schemas.openxmlformats.org/officeDocument/2006/relationships/slide" Target="/ppt/slides/slide8.xml" Id="R705364590f7d4fa6" /><Relationship Type="http://schemas.openxmlformats.org/officeDocument/2006/relationships/slide" Target="/ppt/slides/slide9.xml" Id="R4342c51e9a7a460c" /><Relationship Type="http://schemas.openxmlformats.org/officeDocument/2006/relationships/slide" Target="/ppt/slides/slide10.xml" Id="R16eead8e52874f77" /><Relationship Type="http://schemas.openxmlformats.org/officeDocument/2006/relationships/slide" Target="/ppt/slides/slide11.xml" Id="Rfbf7a8c8c5944354" /><Relationship Type="http://schemas.openxmlformats.org/officeDocument/2006/relationships/slide" Target="/ppt/slides/slide12.xml" Id="R3fcd622b7a304881" /><Relationship Type="http://schemas.openxmlformats.org/officeDocument/2006/relationships/slide" Target="/ppt/slides/slide13.xml" Id="R9bb8ba30cca44bff" /><Relationship Type="http://schemas.openxmlformats.org/officeDocument/2006/relationships/slide" Target="/ppt/slides/slide14.xml" Id="Reb04b7e7f97f41c7" /><Relationship Type="http://schemas.openxmlformats.org/officeDocument/2006/relationships/slide" Target="/ppt/slides/slide15.xml" Id="Rafac57d72ce9486f" /><Relationship Type="http://schemas.openxmlformats.org/officeDocument/2006/relationships/slide" Target="/ppt/slides/slide16.xml" Id="R6c70a0d2043c47d8" /><Relationship Type="http://schemas.openxmlformats.org/officeDocument/2006/relationships/slide" Target="/ppt/slides/slide17.xml" Id="Rf65757de500b4cda" /><Relationship Type="http://schemas.openxmlformats.org/officeDocument/2006/relationships/slide" Target="/ppt/slides/slide18.xml" Id="R95ae35c301084c2d" /><Relationship Type="http://schemas.openxmlformats.org/officeDocument/2006/relationships/slide" Target="/ppt/slides/slide19.xml" Id="Rf3a99b395005446a" /><Relationship Type="http://schemas.openxmlformats.org/officeDocument/2006/relationships/slide" Target="/ppt/slides/slide20.xml" Id="R3c306d77ea374b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3a7f166ec424f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d10c30665a4b42" /><Relationship Type="http://schemas.openxmlformats.org/officeDocument/2006/relationships/notesMaster" Target="/ppt/notesMasters/notesMaster1.xml" Id="R8e16da78c12142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46697e5d4d4891" /><Relationship Type="http://schemas.openxmlformats.org/officeDocument/2006/relationships/notesMaster" Target="/ppt/notesMasters/notesMaster1.xml" Id="R2fb9fa13250c40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63c86d2224faa" /><Relationship Type="http://schemas.openxmlformats.org/officeDocument/2006/relationships/notesMaster" Target="/ppt/notesMasters/notesMaster1.xml" Id="R1a57610b5c8d48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e99c2bdc9b42a6" /><Relationship Type="http://schemas.openxmlformats.org/officeDocument/2006/relationships/notesMaster" Target="/ppt/notesMasters/notesMaster1.xml" Id="Rca5fe3ce67864e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e0236edc0e4807" /><Relationship Type="http://schemas.openxmlformats.org/officeDocument/2006/relationships/notesMaster" Target="/ppt/notesMasters/notesMaster1.xml" Id="Rd9f3d74b4c1c48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def1766e4c4a03" /><Relationship Type="http://schemas.openxmlformats.org/officeDocument/2006/relationships/notesMaster" Target="/ppt/notesMasters/notesMaster1.xml" Id="Rebee8391f1594e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af90fb02634c8f" /><Relationship Type="http://schemas.openxmlformats.org/officeDocument/2006/relationships/notesMaster" Target="/ppt/notesMasters/notesMaster1.xml" Id="R4d4ca115811144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ab6e5c3f5a4adc" /><Relationship Type="http://schemas.openxmlformats.org/officeDocument/2006/relationships/notesMaster" Target="/ppt/notesMasters/notesMaster1.xml" Id="Rd17495efdb0742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a1c32e5ad44516" /><Relationship Type="http://schemas.openxmlformats.org/officeDocument/2006/relationships/notesMaster" Target="/ppt/notesMasters/notesMaster1.xml" Id="Rbc448597e73746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b2fa51194f410d" /><Relationship Type="http://schemas.openxmlformats.org/officeDocument/2006/relationships/notesMaster" Target="/ppt/notesMasters/notesMaster1.xml" Id="R8191f91d00af4b4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fbc62e6c52424f" /><Relationship Type="http://schemas.openxmlformats.org/officeDocument/2006/relationships/notesMaster" Target="/ppt/notesMasters/notesMaster1.xml" Id="Rbd5eb337a6e84b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22dd7b9e434c92" /><Relationship Type="http://schemas.openxmlformats.org/officeDocument/2006/relationships/notesMaster" Target="/ppt/notesMasters/notesMaster1.xml" Id="Rcb9a7e08e08645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9f8725b2aa454c" /><Relationship Type="http://schemas.openxmlformats.org/officeDocument/2006/relationships/notesMaster" Target="/ppt/notesMasters/notesMaster1.xml" Id="Re92510678afc48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360e4fc4b5a4d82" /><Relationship Type="http://schemas.openxmlformats.org/officeDocument/2006/relationships/notesMaster" Target="/ppt/notesMasters/notesMaster1.xml" Id="R606c1e45bb32430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d99c6f130e4f94" /><Relationship Type="http://schemas.openxmlformats.org/officeDocument/2006/relationships/notesMaster" Target="/ppt/notesMasters/notesMaster1.xml" Id="R7bef3954e02945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b2f45e84d24109" /><Relationship Type="http://schemas.openxmlformats.org/officeDocument/2006/relationships/notesMaster" Target="/ppt/notesMasters/notesMaster1.xml" Id="R71d02c45a59f46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76855baa85c4a3f" /><Relationship Type="http://schemas.openxmlformats.org/officeDocument/2006/relationships/notesMaster" Target="/ppt/notesMasters/notesMaster1.xml" Id="Rcc195a0968be47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498e4fbd7514347" /><Relationship Type="http://schemas.openxmlformats.org/officeDocument/2006/relationships/notesMaster" Target="/ppt/notesMasters/notesMaster1.xml" Id="R5b17c921faa94d3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9daf8c5dfd4d08" /><Relationship Type="http://schemas.openxmlformats.org/officeDocument/2006/relationships/notesMaster" Target="/ppt/notesMasters/notesMaster1.xml" Id="R351caf916c86475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262b23183a48a4" /><Relationship Type="http://schemas.openxmlformats.org/officeDocument/2006/relationships/notesMaster" Target="/ppt/notesMasters/notesMaster1.xml" Id="R8efa6a2b39794b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359d188bc423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846e6eaa194531" /><Relationship Type="http://schemas.openxmlformats.org/officeDocument/2006/relationships/slideLayout" Target="/ppt/slideLayouts/slideLayout2.xml" Id="R729d4746a6de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9d4746a6de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b37cd90aa04861" /><Relationship Type="http://schemas.openxmlformats.org/officeDocument/2006/relationships/notesSlide" Target="/ppt/notesSlides/notesSlide1.xml" Id="Rd2df95d996ca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d72739e2147f4" /><Relationship Type="http://schemas.openxmlformats.org/officeDocument/2006/relationships/notesSlide" Target="/ppt/notesSlides/notesSlide2.xml" Id="R81501bc4dc83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ff463b703400e" /><Relationship Type="http://schemas.openxmlformats.org/officeDocument/2006/relationships/notesSlide" Target="/ppt/notesSlides/notesSlide3.xml" Id="Rccb1523403db40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13203f906b4c20" /><Relationship Type="http://schemas.openxmlformats.org/officeDocument/2006/relationships/notesSlide" Target="/ppt/notesSlides/notesSlide4.xml" Id="R8ed42894cd3844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d7e35f0f014e76" /><Relationship Type="http://schemas.openxmlformats.org/officeDocument/2006/relationships/notesSlide" Target="/ppt/notesSlides/notesSlide5.xml" Id="R7ef1b0c507b347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4747dc34145ea" /><Relationship Type="http://schemas.openxmlformats.org/officeDocument/2006/relationships/notesSlide" Target="/ppt/notesSlides/notesSlide6.xml" Id="R4228ac0f0b9742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f2dd398c264616" /><Relationship Type="http://schemas.openxmlformats.org/officeDocument/2006/relationships/notesSlide" Target="/ppt/notesSlides/notesSlide7.xml" Id="R54cc4b7a53724e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3f262bb8840e9" /><Relationship Type="http://schemas.openxmlformats.org/officeDocument/2006/relationships/notesSlide" Target="/ppt/notesSlides/notesSlide8.xml" Id="R0df44a1912c3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782acbff740ed" /><Relationship Type="http://schemas.openxmlformats.org/officeDocument/2006/relationships/notesSlide" Target="/ppt/notesSlides/notesSlide9.xml" Id="Rbe8d5def63be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733cebd6f74082" /><Relationship Type="http://schemas.openxmlformats.org/officeDocument/2006/relationships/notesSlide" Target="/ppt/notesSlides/notesSlide10.xml" Id="Ra33bc022e93e45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aa1a2c619e4360" /><Relationship Type="http://schemas.openxmlformats.org/officeDocument/2006/relationships/notesSlide" Target="/ppt/notesSlides/notesSlide11.xml" Id="Rf4e9c59be71e43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822df18de4617" /><Relationship Type="http://schemas.openxmlformats.org/officeDocument/2006/relationships/notesSlide" Target="/ppt/notesSlides/notesSlide12.xml" Id="Rf21c5e35bbd54f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a9bed6c43041ec" /><Relationship Type="http://schemas.openxmlformats.org/officeDocument/2006/relationships/notesSlide" Target="/ppt/notesSlides/notesSlide13.xml" Id="Rec9fee4750f443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e967455fb94c05" /><Relationship Type="http://schemas.openxmlformats.org/officeDocument/2006/relationships/notesSlide" Target="/ppt/notesSlides/notesSlide14.xml" Id="R969be4ee69d044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661b76e1146e4" /><Relationship Type="http://schemas.openxmlformats.org/officeDocument/2006/relationships/notesSlide" Target="/ppt/notesSlides/notesSlide15.xml" Id="R0e00e9ccc20646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47a6f56ea462a" /><Relationship Type="http://schemas.openxmlformats.org/officeDocument/2006/relationships/notesSlide" Target="/ppt/notesSlides/notesSlide16.xml" Id="R133b5efe7036497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7215a4a0ea45c6" /><Relationship Type="http://schemas.openxmlformats.org/officeDocument/2006/relationships/notesSlide" Target="/ppt/notesSlides/notesSlide17.xml" Id="Rbbd8df700d2c4b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0ec740bdce43c8" /><Relationship Type="http://schemas.openxmlformats.org/officeDocument/2006/relationships/notesSlide" Target="/ppt/notesSlides/notesSlide18.xml" Id="R0bfbf267414940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1d726c07b44472" /><Relationship Type="http://schemas.openxmlformats.org/officeDocument/2006/relationships/notesSlide" Target="/ppt/notesSlides/notesSlide19.xml" Id="Rb476794622c24f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d4e682fc4d4b5e" /><Relationship Type="http://schemas.openxmlformats.org/officeDocument/2006/relationships/notesSlide" Target="/ppt/notesSlides/notesSlide20.xml" Id="R8dad5f2891b845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A2B77-525D-4219-8B44-2DE5E28B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A8D79-2F2E-4E43-970C-5D79FA3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227B9-3BF2-463C-BF29-94631C50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31B4D-EF0D-40DD-99D2-693D5B7A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479A0298-615F-4BC9-9F46-4E996096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F8E09F1C-A36F-4B41-9ADA-B4C71152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课前总览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5C789-714F-4F7B-B93A-1F7C4DBC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三节课的主要目标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7429C-E19E-4649-A0C2-E34A1661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59EA-470C-4D04-A19A-0601A05D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70C88-DE12-4FCE-967B-190179D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253608-492A-49A4-83F7-5271E399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读懂省略段的证据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能把舜九官、古贤人物、书传人物整理成“证据地图”，说明它们怎样支持“四民异业而同道”。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A81F3-F517-4041-836E-59AEE97F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15BF78-18F7-4603-A0CC-FC085F8F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5EF4C-27D0-41AB-B354-4DA1C9D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6E9463-3143-42FA-93F7-A97905D5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看清句式和论证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能拆解“以其……者，而……，犹其……也”等句式，并说明“盖昔”如何引出证据链。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33653-B1E7-44E9-884F-2D613C6A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3D04B-08A7-4E92-B6C9-77D10CA6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80703-3633-4393-B060-87553324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355BA-93BE-473F-A218-EE94D944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完成精神意义迁移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能用“尽心”“有益于生人”讨论现代职业尊严，写出有文本依据的短论。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22597-653C-4206-8C84-CA7CF8C0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626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总线索：从“字句”进入“证据”，再回到“今天怎样判断人的价值”。</a:t>
            </a:r>
          </a:p>
        </p:txBody>
      </p:sp>
    </p:spTree>
    <p:extLst>
      <p:ext uri="{BB962C8B-B14F-4D97-AF65-F5344CB8AC3E}">
        <p14:creationId xmlns:p14="http://schemas.microsoft.com/office/powerpoint/2010/main" val="446436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3ED55-D235-44DA-801A-72E384E8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47394-7BA5-449C-830A-7CDE2673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E3156-3998-44B6-A326-0DA03B1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2952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四民异业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而同道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1FD19-2185-44BF-82EF-A7484500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9DFC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9DFCF"/>
                </a:solidFill>
                <a:latin typeface="PingFang SC"/>
                <a:ea typeface="PingFang SC"/>
                <a:cs typeface="PingFang SC"/>
              </a:rPr>
              <a:t>阳明子｜三课时课堂课件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D447-001C-4D3B-8FE9-1F4331CA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819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4830E-7760-407E-978A-023E74EA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104900"/>
            <a:ext cx="590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从省略段看懂一篇文章的证据链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D9C83-2BD3-478E-91FA-6DB58432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66900"/>
            <a:ext cx="590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词义 · 句式 · 论证 · 精神意义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C08EC-FBBE-44B8-BDA2-ABFD7F1A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5810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D5F40-CD94-44FC-B127-B95A0CC1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D05BB-AF50-4581-A049-786B6384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19450"/>
            <a:ext cx="535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课堂总问题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CCB94-1B60-4DBB-B75F-C7C357E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43300"/>
            <a:ext cx="5353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古人为什么能把士、农、工、商放在同一条“道”上？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4D4FD-73B1-4134-91F3-FAFB967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149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9525">
            <a:solidFill>
              <a:srgbClr val="D95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10C55-AF72-444E-BF81-E7B7A947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048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读懂字句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FDB86-CED3-4B98-8655-4D23DC11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9149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9525">
            <a:solidFill>
              <a:srgbClr val="286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63244-27B0-4ED5-AA0B-7E0904B3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048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看清论证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3C9DE-3F8F-4211-826F-C1A87812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D0BF9-87A6-41B6-A701-E0C47029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48250"/>
            <a:ext cx="140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迁移价值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8604C-8B2D-4EF1-B3DC-C5A32FE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89B7B-BA70-4493-A126-CC3EB406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1BBCC-5FB1-4F9C-8E0C-05F7BDA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2875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557EC-A4AD-4B51-8461-BD97C54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E5DE7-8109-4DFF-B6EB-084A97B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39B5A-412D-4ACB-812B-4ADC41E3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02AD0-7005-4778-A337-E8B390CD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438448B9-7B8D-451D-997F-7E738338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A7F6C341-60FA-47AC-81F7-ADF3C5F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课堂路线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25605-DAEC-42AF-B69D-C804BDB8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三课时不是三段翻译，而是三次追问。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391040-50B8-43CF-A1AA-8B32BED3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DB7555-567C-4EEE-8BE7-5DD2B3A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D1A9B-B92E-463A-9407-1872182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6D479-0EFF-4ECA-AAB0-EC706F6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2400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省略段里，作者摆出了哪些证据？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人物卡 · 证据地图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3A5ACF-65DB-4BCA-AB68-B4B96B0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E83BB-E27F-486C-B771-A5E9B509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90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5D68D-B1B1-49CD-85DD-74773CF1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EE63E2-0557-44AF-80AF-DFA01DBB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76550"/>
            <a:ext cx="2400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这些证据怎样接上原文的句式与论证？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句式拆解 · 论证牌排序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5086D-1BCD-409F-AF00-A4328F2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85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55FC1-D2E7-4B51-BB4F-160BC25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857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8DDA0-7F4F-4C06-BCA3-B10D882F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400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D47DB-B9F6-42F5-844C-2C1273DC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4003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今天我们怎样理解职业尊严？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观点光谱 · 短论写作</a:t>
            </a:r>
          </a:p>
        </p:txBody>
      </p:sp>
    </p:spTree>
    <p:extLst>
      <p:ext uri="{BB962C8B-B14F-4D97-AF65-F5344CB8AC3E}">
        <p14:creationId xmlns:p14="http://schemas.microsoft.com/office/powerpoint/2010/main" val="2929300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BFD358-6967-4A68-A4C8-AB8B8829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59997-7A60-43DB-AEA1-E9F36B16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48C15-AB7F-4DF3-8C07-DDD217D1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106680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19A42-56B6-40B9-A149-FFD8B1F0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4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AF5D0-EFA2-4AD1-B831-F7D815FC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把省略段读成“证据地图”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9B5C1-5228-4C48-9280-1CC78D6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76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C5B54-D1CF-4D25-9EE5-7A8F2AD8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6DFD53-EB60-4B0F-A6B8-9F6F6FE5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本课目标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4AD34-B8F5-4D2A-8224-0AEBB975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读懂关键词和典故功能，知道省略段如何为中心论点提供历史证据。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F6455-4B67-49EA-AD17-82B5630C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810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2554B-069D-4096-921C-47032CC1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7381D-E81B-407C-82D0-6190774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35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主要活动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01D2B-092D-4A9D-8C81-3BAC6A81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35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人物卡配对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证据地图共建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词义出口条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D93D0E-D141-4F14-A580-80A557C0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62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983010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01991-C31C-4B2B-BA08-468D6839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15B93-5666-4C18-A279-3C09372E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8ABBA-5A4A-4461-99E4-18AB2F84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第1课时｜证据地图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FC7ED-83E5-4C42-BD69-87675C25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0EA89-ADF7-494E-A440-1689A76D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EC569-0449-4D00-8189-9B65E490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33B5E561-71D9-404F-8FFB-C13E021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27CB22C6-D602-46F3-8F11-3297CBE3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读懂中心句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19027-D5DC-414A-9419-711CE45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先别急着翻译：这句话里有三组钥匙。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51F32-A1EF-4400-9D79-89CAF7EA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36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“古者四民异业而同道，其心尽焉，一也。”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2FE0D-F4F2-492B-9F86-214AFFD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A15E1-B71A-46FD-B2FB-7591F9E1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6B5C9-5CEE-4594-B7B3-C763992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异业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CFDEC-A3F9-498E-BDA5-541C4B4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职业分工不同：士、农、工、商各有所职。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28DC3-DB41-4090-BC87-0D18E7ED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23850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9BADE-0865-43D9-869F-FE5131F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23850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0EF0A-A548-4194-98F9-C302AA99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48615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同道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46DEF-6182-4F4D-B91A-CF567E0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92430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价值归向相同：不是同一种工作，而是同一个标准。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1E47E-189F-4542-87B5-6FA014B8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23850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3B777-1FDB-4115-B098-3BDF3C09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23850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E5283C-FF9C-45FF-8C9C-E33FA907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48615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尽心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422DF-D6C9-4C1D-BC35-C25562F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92430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把自己的本分做到尽责，并且有益于生人。</a:t>
            </a:r>
          </a:p>
        </p:txBody>
      </p:sp>
    </p:spTree>
    <p:extLst>
      <p:ext uri="{BB962C8B-B14F-4D97-AF65-F5344CB8AC3E}">
        <p14:creationId xmlns:p14="http://schemas.microsoft.com/office/powerpoint/2010/main" val="15421353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6A05E2-C184-41B7-8EF6-557104D6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48C0C-CF3D-42D5-B1B2-12B1E702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CEC41-B3B0-4DFB-A65A-3FA77F51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第1课时｜证据地图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03774-7483-4D54-A66C-39DC28B4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DD8A3-69BA-42CC-871D-37608528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BE7B7-90AE-48D9-8BDF-54D391B2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08C41786-71EE-435E-8536-2AAAA59B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5A017DF5-08F8-4E0D-950F-1B0DDEA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为什么补读这一段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4C91E-85DF-480F-880B-150A6B5D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省略段的任务：把一句抽象道理，压实成历史证据。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28FB2-2C70-45AD-A699-75C4FE0A9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C1F96-EF62-43EB-8194-7E8B2452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D5B0D-FD8E-461B-841A-D96D1324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制度证据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584C6-FEE3-4642-92C4-6F837C70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舜叙九官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稷、契、垂、益排在前面：农业、教化、工艺、山泽都关乎民生。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22549D-8EFA-474C-8608-A275F151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CC336-0C3F-4773-8FA1-F795CDA8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E38672-39C9-4C4C-B99E-FBA67160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历史人物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2872A-8557-4532-8FB9-F12AB535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伊尹、傅说、胶鬲、吕望、百里奚、孔子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贤者可出于耕作、劳作、鱼盐、市井、微职。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8A5995-4D30-4395-918B-ADE2884D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809E2-FA8C-4904-810E-8BD7069B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4D3E5-0F63-404C-B4A3-C43B91B9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2781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书传证据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7023A1-CD2C-432F-9A2D-C3CBF35D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27813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仪封、晨门、荷蒉、斫轮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古书所载的高洁之士，不都在仕途中心。</a:t>
            </a:r>
          </a:p>
        </p:txBody>
      </p:sp>
    </p:spTree>
    <p:extLst>
      <p:ext uri="{BB962C8B-B14F-4D97-AF65-F5344CB8AC3E}">
        <p14:creationId xmlns:p14="http://schemas.microsoft.com/office/powerpoint/2010/main" val="38552991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0E84A-D9AD-4C9C-BB7A-747079BD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80667-0E54-4156-A5B4-9B5529C3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8F20-30A4-440F-B284-F5FBD748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第1课时｜证据地图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D63F2-A6D3-4D92-9140-4EDA3DD7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69FD9-83F1-4C5D-81E6-11BD72B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A5F88-E168-4D3D-827C-63B0FB91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3786D5C5-1D0F-46B7-8D93-EF0C19F8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50839646-A76A-4A0E-879B-7CCB2CE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活动指令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2A98F-9E3D-4691-956C-1ED0C06C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小组活动：人物卡不是背典故，是找共同点。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2B079-A23C-4064-9E47-B99DB0F1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96AAA-8814-49F8-A025-427A2893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C8097-B0F0-44CC-87EA-08D6B82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449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每组拿6张人物卡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971D0-9B56-43D9-90B2-5E1F3D7A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95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把人物放入四栏：人物｜原职业/身份｜后来地位｜论证作用。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8A7907-3853-4387-958F-20A0D914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73BD6-04EF-417A-9433-8C460244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934EF-4603-472E-A2BC-22F63FD3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49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汇报时只说一句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0C7F4-EC9A-4070-BE00-B4DBFEED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4495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这个人证明了：贤能不由职业贵贱决定，而看是否尽心益人。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AF506-D8FC-4B19-97FA-FE23FCDD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48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0FBA86-4791-4B77-AAC2-64C71EDE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719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伊尹：耕于莘野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790DF-6280-4DA5-933E-42548B24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A181C-5CDC-4C74-8596-C03DA353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傅说：板筑于岩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D192D0-C202-45D4-AE37-63EA8EB6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30973F-0887-49E1-B601-1F03CB21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胶鬲：举于鱼盐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9536A0-E03E-43B5-A093-91908992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0A7831-D05A-4E47-A6FB-41C60770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421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孔子：乘田委吏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D743C4-30E4-4427-BC97-F1C44A2E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F3C09A-0577-4E96-8947-B3C92161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先求“共同意义”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8A20C-E226-4BC4-A107-8C289C37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003E11-496B-4EC3-813F-78675805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9105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再补“人物细节”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9EBE96-F1E7-4616-BD5E-897578E9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863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A64BB-ED18-468B-BDE8-34013C6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010150"/>
            <a:ext cx="411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最后连回“四民异业而同道”</a:t>
            </a:r>
          </a:p>
        </p:txBody>
      </p:sp>
    </p:spTree>
    <p:extLst>
      <p:ext uri="{BB962C8B-B14F-4D97-AF65-F5344CB8AC3E}">
        <p14:creationId xmlns:p14="http://schemas.microsoft.com/office/powerpoint/2010/main" val="491877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86BF54-BBC8-4CBF-8171-BAD6891F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5182B-FDFF-454B-9E33-43D9548C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587D5-9B43-42F7-A45B-BA8E22A4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第1课时｜证据地图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ABEB1-2087-44B8-BA41-0013E0A1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949F0-608F-4CC7-9C31-72C68F29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FAB82-0C2C-40BB-855A-40F2502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F71AE453-8120-4549-A05E-B0BD8CC7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3597FF86-AF38-4618-A4D3-97F2113E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今日带走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FC03AA-7E2F-402F-9D93-BFED4D6B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第1课时收束：省略段是一张证据地图。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4DEB6-9201-44EC-8F00-7D9095412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90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D9502A"/>
                </a:solidFill>
                <a:latin typeface="PingFang SC"/>
                <a:ea typeface="PingFang SC"/>
                <a:cs typeface="PingFang SC"/>
              </a:rPr>
              <a:t>一句话总结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6F153-BD23-4869-B67B-A6E71437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职业可以不同，成其为“道”的标准是尽心与益人。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3921C-5E0E-4860-9BF0-DF7D6BE9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8C397-D8B4-4D3E-ACDC-B52BFFAF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719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B79138-B2E8-4E97-AA87-242B352A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95750"/>
            <a:ext cx="830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制度证据：四民功能本来都入大道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22BD8-DBAE-4C1F-9F0B-0FED67AC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727F85-DFFA-4608-94D6-80E0FA6B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830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人物证据：贤圣可出于各行各业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0D287-3766-4B74-A342-2EA87B2B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C9F0F-7833-4E90-8C27-E8F39C9E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86350"/>
            <a:ext cx="830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反向伏笔：后世才开始歆士、卑农、耻工贾</a:t>
            </a:r>
          </a:p>
        </p:txBody>
      </p:sp>
    </p:spTree>
    <p:extLst>
      <p:ext uri="{BB962C8B-B14F-4D97-AF65-F5344CB8AC3E}">
        <p14:creationId xmlns:p14="http://schemas.microsoft.com/office/powerpoint/2010/main" val="15870224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7E811A-C7E4-49B9-832F-5A0291B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91C5F-066E-4419-8C9D-DB573CD8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18D357-889C-4097-8CDD-B4173BAC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106680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92B45-C5FF-4ABE-BFF6-3D20A9C0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4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DEC92-F3F7-4FA7-83EB-FA336A4F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从句式看论证怎样推进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D39C9-578D-4339-BCC9-D8C0CB2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76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6E2C0-19D0-4477-B0AA-E1AEA9D9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D3A041-8D59-47DE-8BA9-F46E121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本课目标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5855D-3EB7-4082-94EA-354E05FB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把文言结构拆成逻辑关系，理解作者如何由“尽心”推出“同道”。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0892-FEF1-4A6B-AD41-13E13997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810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470EF-6F86-43A5-84E1-5017C3FB9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3336C-9B68-463C-9C11-A059A056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35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主要活动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9C510E-7E0F-4247-A4AD-919F8F1F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35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句式三步拆解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现代仿写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论证牌排序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1031A-B5BA-418C-98AC-A4613EC9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62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801893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0C6E1D-1A23-4DF3-8BF4-1D8DF395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11364-52DE-4B0B-A86C-9D2BF591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26B4B-774A-4C5F-AD22-B2DB1D5D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第2课时｜句式与论证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D209F-62CC-4B20-BF95-51FA1233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3CB99-FB69-4BF4-B342-B2AE997E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0A351-A04F-4FD8-AA37-84145F53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A052CA12-18E2-41AF-AF62-D411178B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424DA3D6-8B37-4010-BD3B-3CDEEC45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进入句式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6D2FE-4B56-43F3-A536-E73067B3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读文言，不只问“什么意思”，还要问“怎么推出去”。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B19F-7709-4A94-A5E5-73AF5D7F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05156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士农以其尽心于修治具养者，而利器通货，犹其士与农也；</a:t>
            </a:r>
          </a:p>
          <a:p xmlns:a="http://schemas.openxmlformats.org/drawingml/2006/main">
            <a:pPr algn="ctr">
              <a:def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工商以其尽心于利器通货者，而修治具养，犹其工与商也。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10BD38-24BC-4E56-8B87-082322D8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CA6EA-C431-4A12-8305-6888AFEA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49A32-42C8-4128-85B6-97689D6B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以其……者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353B7-4DD0-44C5-84CC-EC6BEFCF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说明原因：因为他们把心力尽在本业上。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E593C-7125-4E0A-97CB-C3623563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714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C1DB0-9DEC-4918-AD3B-18985262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3714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9CD84-C4D5-4AE3-AFCF-ADD25C77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3962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而……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4ED676-A2E9-4A32-9A1F-6AFCA60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4400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说明行为延展：也能接触别的事务。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7CC9C9-5301-400E-910E-B58C31C0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14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09AE98-A532-4298-8F82-8D040DB2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714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4C83D-A312-4553-B639-7FD868C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3962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犹其……也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B908AF-94C7-408F-A827-3E527AB7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4400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作出判断：仍然不失其本业之道。</a:t>
            </a:r>
          </a:p>
        </p:txBody>
      </p:sp>
    </p:spTree>
    <p:extLst>
      <p:ext uri="{BB962C8B-B14F-4D97-AF65-F5344CB8AC3E}">
        <p14:creationId xmlns:p14="http://schemas.microsoft.com/office/powerpoint/2010/main" val="1269513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19D3AB-65EF-472E-8229-B8A79B4A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D99D52-F6F0-4DDE-8F9B-DA21F3F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A3BD1-C1E5-4823-9EE2-2C7DE689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第2课时｜句式与论证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233D7-CFB8-45F5-B3D8-C1CCF7619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79CB0-C831-40C5-819C-D17132F4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04C13-7D24-465B-AAFF-9F2621E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20290028-DF47-45E6-8C50-922E5CCD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D6D09D03-1438-4EC2-B660-E24FDB5C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句式拆解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F4466-EACD-488D-AF38-542A0DF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把长句拆成三步，逻辑就显出来了。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45CAD-3AD4-49BF-9ECF-9204E689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736B1-FDB9-4ABE-8984-1FB17C30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DED00-A49B-4995-B3CC-F2AB5DF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955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BE8E3B-D37A-487B-913D-1A0023F0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669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以其尽心于……者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08688-B4EC-44C0-9C6B-5D9FB021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D0208-6AA7-48A0-8F78-575D6ACD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574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价值成立的条件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A789E-01A7-4132-A9CF-BEB91AE1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41AD0D-F101-468F-8B0D-9601CF28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延展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372C40-492B-4326-B14E-87493280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F5122-DC5B-4952-944C-EDDC978E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1470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而……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74B0B-3DC0-4CB9-A6F5-BC8C115F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A1588A-B1ED-4EA3-9260-96D37BF5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职业之间并非封闭隔绝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D8289-290B-4EE7-9891-A5DE5CC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333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02980F-C3D1-46E6-B01D-D79BC65F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624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判断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A8FE65-3F53-4C3F-B14B-6F145CE2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91000"/>
            <a:ext cx="352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44B9C0-AA04-4C5B-9829-3B6B7502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62450"/>
            <a:ext cx="3067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犹其……也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CAC4AE-18B4-423F-85F8-C85F770B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09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35865-E711-4665-8119-3C75F8B8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52925"/>
            <a:ext cx="3638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只要尽心益人，仍归于同道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BE62B1-0017-4FBA-882B-0B9847E9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102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仿写：教师以其尽心于育人者，而研究技术，犹其教师也。</a:t>
            </a:r>
          </a:p>
        </p:txBody>
      </p:sp>
    </p:spTree>
    <p:extLst>
      <p:ext uri="{BB962C8B-B14F-4D97-AF65-F5344CB8AC3E}">
        <p14:creationId xmlns:p14="http://schemas.microsoft.com/office/powerpoint/2010/main" val="5542817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0A10C-CBB8-4EEA-96BA-CA57852E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A08B8-1CC7-4844-9202-FCDB047B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558FC-FC32-405E-8A63-80A857D5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第2课时｜句式与论证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9CE658-1FE4-4830-B278-6441431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9DAB0-9D11-4CDA-A8BC-65DB4016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76A55-E5CA-47BB-83B6-603AAF8D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6D24E39F-B2A9-4C2A-8FD8-9E9A82D4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E27FCC36-5403-46D5-BA15-507F8DFA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承上启下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1DAE0-DEF9-40DD-8D3B-E1FFF3C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“盖昔”不是闲笔，它是在打开证据仓库。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4B42A3-7AFB-4FA8-822C-167BF300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8AB6E-430A-497A-9F00-BDD1A623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立论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DE90F-B989-4BE7-8719-56B2C14A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四民异业而同道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0A211-9F5C-43E9-880B-DFBBD96C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43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B6F5E7-0DA9-4A52-A719-0312D12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C90B0-1A40-4FE4-AC4D-B6A4647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574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分说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4FCDD-835B-4563-A6B6-0DA72350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62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士农工商各尽其心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1DA62-86C9-43B9-AB54-DA1DF3B7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43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19FA6-1BA1-4182-953A-63836288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D16127-46B8-460A-B02A-7A70AD2B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574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归结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DEC035-CD5D-45CC-8A55-E7501CCE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62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有益于生人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8231B2-FB49-4127-BE3B-2A3B0761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43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DCF63-CCB4-4650-8619-B78855F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701A0-4142-4207-9BCE-2EDE16CE3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举证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3754AD-FB52-4B1B-93CF-DAFE7FE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舜九官与古贤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FDAE3C-E44B-45CC-9B2A-EC5912B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432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B2DC0-DDD6-46A8-B2C3-378B3A0F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050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B09840-C8A6-451A-B25D-723B6420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5745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反衬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AC0E4-6317-43E8-A990-C93C6580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62250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后世歆士卑农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D38F32-2739-4943-8F7C-688DD80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876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32920D-D475-4020-B049-713925EC9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E2F352-1099-43BB-8A58-A09DF12D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362450"/>
            <a:ext cx="830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课堂追问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995E71-E534-4BF3-B62C-850A2339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86300"/>
            <a:ext cx="830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如果删去“盖昔……”这一段，文章还剩观点，却少了历史权威和反偏见的力度。</a:t>
            </a:r>
          </a:p>
        </p:txBody>
      </p:sp>
    </p:spTree>
    <p:extLst>
      <p:ext uri="{BB962C8B-B14F-4D97-AF65-F5344CB8AC3E}">
        <p14:creationId xmlns:p14="http://schemas.microsoft.com/office/powerpoint/2010/main" val="86147511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8A4A47-69C6-4C1D-9C51-49504FF8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41ADD-4600-4D19-9ED3-373138C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4FC19-C6A0-4870-AF46-3FB7A9E4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第2课时｜句式与论证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0C9BF-E3F3-4A00-A8C9-71E5B01D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C98EE-8CCD-4225-B99F-DD2403E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2320-3795-4D3A-87C0-0C729566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7D284C2E-3A22-44BF-93AC-6815FD53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611D172E-BA99-43A8-81B2-17C20A5C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活动指令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D67F1-4A44-402A-A359-185FEDCF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活动：把论证牌排回去，再说明为什么。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9792A-F29F-4AF0-94A9-538B884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36549-E773-48CF-A311-6C33F2A5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每组获得5张论证牌：立论、分说、归结、举证、批判。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56D7C-8F0F-431F-9D1A-2703AD67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91FC3-0E8C-4A1B-BDAA-364A8C1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先排顺序，不准翻译全文。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295B0-E047-45DF-8B17-AC59BB18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A94A8-AC37-44B9-80CA-7874ED0A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906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每组选择一张最关键的牌，说明它如何服务中心论点。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A1C95-9962-4561-8A74-0BADCFF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3EE1F7-736D-416F-B070-3CF12E47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44D598-5FA6-40BE-9104-420BE6D3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微型辩论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CA92F-E26C-4AE2-AB7C-208EC41A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411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省略段如果删除，课文论证会损失什么？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D839BF-B17E-42F5-AD1D-39264295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457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17E8A-B1A9-4937-8038-BE51B938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624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EE6E2A-1F8B-46B0-B54B-59EDA566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33900"/>
            <a:ext cx="411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回答抓手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392398-AC02-4D4A-A947-5C3E4B3D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411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证据密度｜历史权威｜反偏见力度</a:t>
            </a:r>
          </a:p>
        </p:txBody>
      </p:sp>
    </p:spTree>
    <p:extLst>
      <p:ext uri="{BB962C8B-B14F-4D97-AF65-F5344CB8AC3E}">
        <p14:creationId xmlns:p14="http://schemas.microsoft.com/office/powerpoint/2010/main" val="176625253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F27865-F49E-47E0-9F15-D1B5E73A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71C82-D7B6-42EB-9105-EAD3FF9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8F5C5-204B-4584-8BC8-FE41B468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第2课时｜句式与论证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5769D-900F-4DDF-BACF-F0F86A4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37EE1-BD76-4CE7-B091-0D80650D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42659-A7B9-4293-A51F-9167B293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C3AAB57B-ED6A-4D0A-8517-EBBEBBF5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C3532BE9-E57B-4FC1-A8CE-7C58BC6E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今日带走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E3260-83DB-486C-9578-3CE6A40D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第2课时收束：文法是论证的骨架。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77A7F-468A-420B-9CE3-36FA5159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74BD9-3B04-4A0D-98BB-B93CBAB9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2B5B6-DEDC-4CFC-9EAC-1A7B8655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句式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114764-F5C9-4DD5-AA01-45505112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以其……者｜而……｜犹其……也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10A69-78AF-4DB5-A8DD-5C16C65A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DBD1E9-888A-4529-8554-BBD66B3D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7AC5B-F1E7-468C-8FEA-46252C9B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承接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AD1BDF-D61A-46B7-BA2C-B2E1FFE8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“盖昔”引入证据，证明古已有之。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07D07-D919-43EE-AB5C-D43A28C2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07B17-C5CF-4126-A9A1-A9DCA379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5C87E-EB82-4C83-A103-6AE45B35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68A8"/>
                </a:solidFill>
                <a:latin typeface="PingFang SC"/>
                <a:ea typeface="PingFang SC"/>
                <a:cs typeface="PingFang SC"/>
              </a:rPr>
              <a:t>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441325-C71C-4DCF-908F-34FAABAB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立论、分说、归结、举证、反衬。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6B0332-087F-4F6C-84F6-228E8A69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答题句：省略段通过连续典故，证明古代贤圣英贤并不局限于仕途，从而加强“四民异业而同道”的说服力。</a:t>
            </a:r>
          </a:p>
        </p:txBody>
      </p:sp>
    </p:spTree>
    <p:extLst>
      <p:ext uri="{BB962C8B-B14F-4D97-AF65-F5344CB8AC3E}">
        <p14:creationId xmlns:p14="http://schemas.microsoft.com/office/powerpoint/2010/main" val="172181516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17A3B-2AAF-4FB2-A38E-3B8F5AAC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AAD00-CA5C-4B52-B656-E6C4BF1A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E5422-C4F2-40E4-A426-87638072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1066800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A623A-DB98-4161-8CB3-E200944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49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第3课时开始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A2CF3-B390-49AE-96EB-5F2FFA93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335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精神意义与现代迁移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C96BB-236B-4743-B635-34280D0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76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03207-FF44-4D8F-88DF-6ADDDA9B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F0640-EAD5-4978-88F4-CEF640EC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430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本课目标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1390D-53FD-429E-BC3F-FD413C82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用文本中的“尽心”“有益于生人”重新讨论现代职业尊严。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FEAE4-9DB4-4134-ABB3-A16C321F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3810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101E5-2120-4A89-A5D1-77B3BAAC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670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936AE-65E4-4201-81EC-DF6C3A57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335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主要活动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62915-9363-4C27-B8C9-535D5BEA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35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价值投票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观点光谱</a:t>
            </a:r>
          </a:p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短论工作坊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C3807-C6D3-4D59-AC68-FB9582F8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5626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6608805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3D5E4A-9AA3-47BF-AF47-2B9B59AA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254CB-C25C-441D-9C45-ACDAE7EF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5EE67-6DF9-41D0-8416-51582809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第3课时｜精神意义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5F9F1-DB81-4EE0-B935-056A84E6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3EC073-4BE9-4B69-BBD3-F919ADBF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959A0-E7B8-4BBE-977F-695984C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7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EECB3752-90DC-4B68-B168-B154DB08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44F9CD5B-B3F6-427D-B6CB-005FDFEA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价值投票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EB8108-47DA-468E-B1C9-48B51667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今天讨论职业尊严，先从一个判断标准开始。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2C723-A66E-4C88-93B6-2650300D2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10134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“其归要在于有益于生人之道，则一而已。”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4ED48-290F-4D18-9B9C-79B9C559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E8CA6-E53A-4204-B035-C796B94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医生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76C04-554B-4CB9-8EFD-B9EFE189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02CB2-4A8B-4124-8C68-DF274258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81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农民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44A26-A5A6-43BE-A95E-BCD0D787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57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4A9C7-171B-4716-8482-47BEC305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81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工程师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49F7F-218D-43D5-BF04-D440BCB2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575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8CD23D-52C1-425B-9454-1B749E99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813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外卖员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C2FE7-83E1-4A1C-9D59-51797E3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A2F4AA-D95D-4114-B792-5C2B7739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商人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62773-94A0-4A79-9D23-995584E0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76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3753A3-45B8-489B-A99C-D67096FF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200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艺术家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5AB92-89F8-4A0B-A5C9-87FC61B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5DF90-1267-423F-8EE8-41D7A87B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00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清洁工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28D4-C496-4D22-8D3A-DF8D336E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767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DFB002-41FB-4767-96EE-100FD061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0052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研究员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C1156-3BB3-4269-B703-B7ED6F53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72100"/>
            <a:ext cx="10134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投票后追问：你刚才的排序标准，是收入、名声、稳定，还是“有益于生人”？</a:t>
            </a:r>
          </a:p>
        </p:txBody>
      </p:sp>
    </p:spTree>
    <p:extLst>
      <p:ext uri="{BB962C8B-B14F-4D97-AF65-F5344CB8AC3E}">
        <p14:creationId xmlns:p14="http://schemas.microsoft.com/office/powerpoint/2010/main" val="49264945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D376BA-A89A-4022-9E0F-30ADB1A6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612B2-F221-4F79-A710-0934E91C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CAB5-C551-4D45-A9A3-A4DB2A88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第3课时｜精神意义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EDA5D-4F8E-498D-B1F1-E58BC1F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3920B-5CA0-47DD-97C3-98AE5A20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6BE0B-DF1B-4C7F-A94B-18007F24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7" name="kicker-17-marker">
            <a:extLst xmlns:a="http://schemas.openxmlformats.org/drawingml/2006/main">
              <a:ext uri="{FF2B5EF4-FFF2-40B4-BE49-F238E27FC236}">
                <a16:creationId xmlns:a16="http://schemas.microsoft.com/office/drawing/2014/main" id="{2C22B8AB-AD2F-4576-A343-D22DD2DC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7-label">
            <a:extLst xmlns:a="http://schemas.openxmlformats.org/drawingml/2006/main">
              <a:ext uri="{FF2B5EF4-FFF2-40B4-BE49-F238E27FC236}">
                <a16:creationId xmlns:a16="http://schemas.microsoft.com/office/drawing/2014/main" id="{D943839F-C5A0-4F50-AF35-1C7DDBB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观点光谱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B4FD8-7A45-42CA-B6EF-34EBF2A0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“职业无高低”还不够，原文说得更精确。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60BAA3-08AB-4BEB-A44C-F12C5436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48000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C7427-E982-42AD-A724-60EED67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90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D2E27-7A4B-49B1-9BAF-AB2E0152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990850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AFC2B-30F9-45BD-9A00-FE5AB589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266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A：职业有高低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B6231A-EF7B-4A7E-9762-65BEBD74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B：职业无高低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C191E-392D-4C5C-B451-BB493EB0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810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16C8F2-E2F2-40D5-A59A-7307DF4F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88ADC9-E36B-4315-BE72-5E0CFC7B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76700"/>
            <a:ext cx="735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站位后必须补一句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603A64-CE2B-4BE6-A73B-373580F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7353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我站在这里，因为原文中的“_______”说明了……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E50090-E507-4473-AE24-950C26D3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更精确的表达：职业分工有差异；人的价值不由职业贵贱决定，而看是否尽心、是否益人。</a:t>
            </a:r>
          </a:p>
        </p:txBody>
      </p:sp>
    </p:spTree>
    <p:extLst>
      <p:ext uri="{BB962C8B-B14F-4D97-AF65-F5344CB8AC3E}">
        <p14:creationId xmlns:p14="http://schemas.microsoft.com/office/powerpoint/2010/main" val="29296621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377D2E-5538-48B1-8CAE-C7ABBEB2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E4FEA-DBAD-4AA8-8C5E-539344AF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36E5-AEB9-448C-923F-943FFFFB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第3课时｜精神意义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FEAB9-9A94-4F5B-B86F-5D839DBB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D42A7-B9A8-4802-B1A5-597F4370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17C95-125C-41B6-B616-9282C3FC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7" name="kicker-18-marker">
            <a:extLst xmlns:a="http://schemas.openxmlformats.org/drawingml/2006/main">
              <a:ext uri="{FF2B5EF4-FFF2-40B4-BE49-F238E27FC236}">
                <a16:creationId xmlns:a16="http://schemas.microsoft.com/office/drawing/2014/main" id="{91A82723-4200-4ADE-AD45-A30AC60D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8-label">
            <a:extLst xmlns:a="http://schemas.openxmlformats.org/drawingml/2006/main">
              <a:ext uri="{FF2B5EF4-FFF2-40B4-BE49-F238E27FC236}">
                <a16:creationId xmlns:a16="http://schemas.microsoft.com/office/drawing/2014/main" id="{A54DAE87-D852-490C-BEA2-2E8BD18B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短论工作坊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22BFE-75C5-458E-848F-22803A92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写作活动：把价值讨论写回文本里。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1EF1EA-526C-407B-9AC1-891129D6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27DD77-1E83-4C08-B19E-0E7C480E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观点句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803F7-0A2C-4B84-9DCA-19F3B54A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431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580CD1-B910-4FAB-BC45-46509914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我认为“同道”不是职业相同，而是价值标准相同。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C4D35-03BA-4BE1-A930-8AC5FB62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AFC886-1CAF-4BF2-97C8-F30AC409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文本证据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38B7F-2CD9-492F-BF11-36AD80CC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194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175DE-35D7-4552-985F-5D4799EC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527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原文说“其归要在于有益于生人之道”。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0D1707-C316-4E82-B687-17E3B44A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63842-0D30-4250-AA74-31C8434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现代例子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D6C5CD-B05F-45F0-90AA-96636B3B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957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7DA2B-74BC-4ED9-A83D-915076BE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290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例如……虽然职业不同，但都在……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70CECC-3ED4-4EF2-BDEC-F5DDE1CB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5F5551-9FE8-4B26-852A-AE91BD7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回应偏见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D821D-6323-4EF4-B4B8-E5DC332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752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6BA43F-EF85-4067-BA2A-BC773D6E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05350"/>
            <a:ext cx="7067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因此不能只按名声、收入或仕途判断一个人。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CE0401-44D7-4102-AA69-4FAE5D05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目标：150–220字，至少引用一个原文关键词。</a:t>
            </a:r>
          </a:p>
        </p:txBody>
      </p:sp>
    </p:spTree>
    <p:extLst>
      <p:ext uri="{BB962C8B-B14F-4D97-AF65-F5344CB8AC3E}">
        <p14:creationId xmlns:p14="http://schemas.microsoft.com/office/powerpoint/2010/main" val="90361099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6B28F1-F7FB-4438-8999-1E73447A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84394-5172-4DAD-B28B-DA18F253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D034C-5ABE-4F53-8B15-B548A93B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第3课时｜精神意义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E0F1-A915-4744-BE9D-5396146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F5761-4968-45E5-AAF4-FB6874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8F9CD-46C3-48A4-AE35-7C61EA6B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7" name="kicker-19-marker">
            <a:extLst xmlns:a="http://schemas.openxmlformats.org/drawingml/2006/main">
              <a:ext uri="{FF2B5EF4-FFF2-40B4-BE49-F238E27FC236}">
                <a16:creationId xmlns:a16="http://schemas.microsoft.com/office/drawing/2014/main" id="{3E5564DD-34DF-4084-80EB-4CCDBE39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kicker-19-label">
            <a:extLst xmlns:a="http://schemas.openxmlformats.org/drawingml/2006/main">
              <a:ext uri="{FF2B5EF4-FFF2-40B4-BE49-F238E27FC236}">
                <a16:creationId xmlns:a16="http://schemas.microsoft.com/office/drawing/2014/main" id="{0472D084-292D-469B-A6B2-41E126D4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今日带走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DEC59-9EF1-4485-BC98-69243757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第3课时收束：这篇文章不是劝人安分，而是重估价值。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ABF71-7560-4EE9-9CFD-E4DF0F8D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D4729-5C53-4B7F-8B11-31E11F42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207F2-90CC-40A0-AB29-37D2D0EB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承认分工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4420B-6F66-4044-8950-F3DB27F0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“异业”说明社会职责确有不同。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E4F05-B329-49F4-8366-943DBFFF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7CF49D-8058-42DA-94F2-6809E919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05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A136-BC95-4363-9D52-5F2310ED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反对轻贱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87B10-5014-4397-B774-93EBFC6F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“歆士而卑农”是后世价值失衡。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D4097-7EA4-4EF3-BED5-B0C81B6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90750"/>
            <a:ext cx="351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982DFE-8FBE-47C9-B7F9-4D8652FF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190750"/>
            <a:ext cx="35179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B67F6-631E-4922-8202-C6FE9E01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438400"/>
            <a:ext cx="3060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55A"/>
                </a:solidFill>
                <a:latin typeface="PingFang SC"/>
                <a:ea typeface="PingFang SC"/>
                <a:cs typeface="PingFang SC"/>
              </a:rPr>
              <a:t>回到标准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4F323E-7592-4202-AC76-87264C73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100" y="2876550"/>
            <a:ext cx="3060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“尽心”“有益于生人”才是判断重点。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92816-B173-49E0-BE49-F07DA9C2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一句话结论：王阳明用古代典故提醒我们，职业尊严来自尽责与益人，而不是身份排序。</a:t>
            </a:r>
          </a:p>
        </p:txBody>
      </p:sp>
    </p:spTree>
    <p:extLst>
      <p:ext uri="{BB962C8B-B14F-4D97-AF65-F5344CB8AC3E}">
        <p14:creationId xmlns:p14="http://schemas.microsoft.com/office/powerpoint/2010/main" val="98607852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76E96-E91D-4245-9829-1F3BE4EA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B17A8-51B5-4F4C-A811-DC017AC4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A03E1-3737-4620-82F4-18FA70A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阳明子《四民异业而同道》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49420-41F5-4A18-9C49-5176BC46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D667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kicker-20-marker">
            <a:extLst xmlns:a="http://schemas.openxmlformats.org/drawingml/2006/main">
              <a:ext uri="{FF2B5EF4-FFF2-40B4-BE49-F238E27FC236}">
                <a16:creationId xmlns:a16="http://schemas.microsoft.com/office/drawing/2014/main" id="{AA5EFD04-A8C1-46B6-B68A-308B8130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247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kicker-20-label">
            <a:extLst xmlns:a="http://schemas.openxmlformats.org/drawingml/2006/main">
              <a:ext uri="{FF2B5EF4-FFF2-40B4-BE49-F238E27FC236}">
                <a16:creationId xmlns:a16="http://schemas.microsoft.com/office/drawing/2014/main" id="{DE466332-A25A-4404-9CA0-15A2E490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出口条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F64F7-EC5D-46FF-B3F8-5B926907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最后用三张小纸条，检查自己是否真的读懂。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94145-A28A-4D74-97F3-708613F9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1C2CD-97AE-4BC5-81C7-ED25D0C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1. 今天我最容易误解的一个词是：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3B51E-074A-4D01-9DCE-EDA6132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6776D-B3CC-49BD-B016-6CC61DC4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194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2. 省略段中最能支持中心论点的人物是：因为：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BF504-3444-4A0E-8D49-0C261D9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B3BC4-1628-48FF-8B44-D1B38DD2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576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3. 用一句话解释“尽心”和“有益于生人”的关系：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110EB-4760-405E-8285-3536418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7E536B-72ED-48B4-AC29-B489D51B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9582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8212B"/>
                </a:solidFill>
                <a:latin typeface="PingFang SC"/>
                <a:ea typeface="PingFang SC"/>
                <a:cs typeface="PingFang SC"/>
              </a:rPr>
              <a:t>4. 我还想追问的问题：</a:t>
            </a:r>
          </a:p>
        </p:txBody>
      </p:sp>
    </p:spTree>
    <p:extLst>
      <p:ext uri="{BB962C8B-B14F-4D97-AF65-F5344CB8AC3E}">
        <p14:creationId xmlns:p14="http://schemas.microsoft.com/office/powerpoint/2010/main" val="16641604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2026-05-19T04:13:27.1960000Z</dcterms:created>
  <dcterms:modified xsi:type="dcterms:W3CDTF">2026-05-19T04:13:27.1960000Z</dcterms:modified>
</coreProperties>
</file>